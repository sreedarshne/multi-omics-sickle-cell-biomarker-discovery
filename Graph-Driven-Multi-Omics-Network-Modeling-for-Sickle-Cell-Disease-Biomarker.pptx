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Epilogue" panose="020B0604020202020204" charset="0"/>
      <p:regular r:id="rId13"/>
    </p:embeddedFont>
    <p:embeddedFont>
      <p:font typeface="Fraunces Medium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0E26"/>
    <a:srgbClr val="1F16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74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4046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982748"/>
            <a:ext cx="7556421" cy="283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Graph-Driven Multi-Omics Network Modeling for Sickle Cell Disease Biomarker Discovery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5158026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Integrating transcriptomics and proteomics data through graph theory and explainable AI to uncover disease mechanisms and therapeutic targets</a:t>
            </a:r>
            <a:endParaRPr lang="en-US" sz="17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169C92-D653-1E88-71C3-D00929E05B46}"/>
              </a:ext>
            </a:extLst>
          </p:cNvPr>
          <p:cNvSpPr txBox="1"/>
          <p:nvPr/>
        </p:nvSpPr>
        <p:spPr>
          <a:xfrm>
            <a:off x="12573001" y="7531767"/>
            <a:ext cx="1937084" cy="613611"/>
          </a:xfrm>
          <a:prstGeom prst="rect">
            <a:avLst/>
          </a:prstGeom>
          <a:solidFill>
            <a:srgbClr val="080E2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1535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The Challenge: SCD's Molecular Complexity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899886"/>
            <a:ext cx="315194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Disease Characteristics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481030"/>
            <a:ext cx="3501509" cy="3629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Sickle Cell Disease is a hereditary blood disorder caused by mutations in the β-globin gene, leading to abnormal hemoglobin formation and chronic complications including hemolytic anemia, vaso-occlusive pain crises, and progressive organ damage.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4856321" y="289988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Computational Gap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856321" y="3481030"/>
            <a:ext cx="3501509" cy="3266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High-throughput technologies generate massive transcriptomic and proteomic datasets, but traditional statistical approaches fail to capture the intricate interdependencies between molecular players driving disease progression.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253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Why Graph Theory?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364938"/>
            <a:ext cx="4196358" cy="3681055"/>
          </a:xfrm>
          <a:prstGeom prst="roundRect">
            <a:avLst>
              <a:gd name="adj" fmla="val 2588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28224" y="259937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8C98C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5390" y="2786420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3506629"/>
            <a:ext cx="331648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Network Representation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3997047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Genes and proteins become nodes, interactions become edges—transforming complex biology into analyzable topology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2364938"/>
            <a:ext cx="4196358" cy="3681055"/>
          </a:xfrm>
          <a:prstGeom prst="roundRect">
            <a:avLst>
              <a:gd name="adj" fmla="val 2588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5451396" y="259937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8C98C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8562" y="2786420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51396" y="3506629"/>
            <a:ext cx="319694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Multi-Layer Integration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51396" y="3997047"/>
            <a:ext cx="372749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Transcriptomics and proteomics data merge into unified heterogeneous networks revealing cross-omic relationships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2364938"/>
            <a:ext cx="4196358" cy="3681055"/>
          </a:xfrm>
          <a:prstGeom prst="roundRect">
            <a:avLst>
              <a:gd name="adj" fmla="val 2588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9874568" y="259937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8C98C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61734" y="2786420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74568" y="35066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Hub Identification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74568" y="3997047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Centrality metrics pinpoint regulatory genes and proteins orchestrating disease pathways</a:t>
            </a:r>
            <a:endParaRPr lang="en-US" sz="1750" dirty="0"/>
          </a:p>
        </p:txBody>
      </p:sp>
      <p:sp>
        <p:nvSpPr>
          <p:cNvPr id="18" name="Text 13"/>
          <p:cNvSpPr/>
          <p:nvPr/>
        </p:nvSpPr>
        <p:spPr>
          <a:xfrm>
            <a:off x="793790" y="630114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Graph analysis reveals disease-associated pathways, hub genes, and regulatory modules undetectable with conventional statistical approaches.</a:t>
            </a:r>
            <a:endParaRPr lang="en-US" sz="175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B1910C-688F-9A57-A9A8-9510FA1E9274}"/>
              </a:ext>
            </a:extLst>
          </p:cNvPr>
          <p:cNvSpPr txBox="1"/>
          <p:nvPr/>
        </p:nvSpPr>
        <p:spPr>
          <a:xfrm>
            <a:off x="12573001" y="7531767"/>
            <a:ext cx="1937084" cy="613611"/>
          </a:xfrm>
          <a:prstGeom prst="rect">
            <a:avLst/>
          </a:prstGeom>
          <a:solidFill>
            <a:srgbClr val="080E2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9136" y="577810"/>
            <a:ext cx="6671310" cy="633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Methodological Framework</a:t>
            </a:r>
            <a:endParaRPr lang="en-US" sz="3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136" y="1572935"/>
            <a:ext cx="1013103" cy="12157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03214" y="1775460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Data Acquisition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903214" y="2200513"/>
            <a:ext cx="12018050" cy="30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GEO transcriptomics and PRIDE proteomics datasets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136" y="2788682"/>
            <a:ext cx="1013103" cy="12157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903214" y="2991207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Integration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1903214" y="3416260"/>
            <a:ext cx="12018050" cy="30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Unified multi-omics matrix construction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136" y="4004429"/>
            <a:ext cx="1013103" cy="12157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903214" y="4206954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Network Building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1903214" y="4632007"/>
            <a:ext cx="12018050" cy="30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Heterogeneous graph from correlations and interactions</a:t>
            </a:r>
            <a:endParaRPr lang="en-US" sz="1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136" y="5220176"/>
            <a:ext cx="1013103" cy="121574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903214" y="5422702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Analysis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1903214" y="5859787"/>
            <a:ext cx="12018050" cy="30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Centrality and community detection</a:t>
            </a:r>
            <a:endParaRPr lang="en-US" sz="15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9136" y="6435923"/>
            <a:ext cx="1013103" cy="121574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903214" y="6638449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ML Prediction</a:t>
            </a:r>
            <a:endParaRPr lang="en-US" sz="1950" dirty="0"/>
          </a:p>
        </p:txBody>
      </p:sp>
      <p:sp>
        <p:nvSpPr>
          <p:cNvPr id="17" name="Text 10"/>
          <p:cNvSpPr/>
          <p:nvPr/>
        </p:nvSpPr>
        <p:spPr>
          <a:xfrm>
            <a:off x="1903214" y="7063502"/>
            <a:ext cx="12018050" cy="30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Graph neural networks for biomarkers</a:t>
            </a:r>
            <a:endParaRPr lang="en-US" sz="155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39AE5B-5D6F-C361-E7B0-6E77200FE546}"/>
              </a:ext>
            </a:extLst>
          </p:cNvPr>
          <p:cNvSpPr txBox="1"/>
          <p:nvPr/>
        </p:nvSpPr>
        <p:spPr>
          <a:xfrm>
            <a:off x="12573001" y="7531767"/>
            <a:ext cx="1937084" cy="613611"/>
          </a:xfrm>
          <a:prstGeom prst="rect">
            <a:avLst/>
          </a:prstGeom>
          <a:solidFill>
            <a:srgbClr val="080E2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20272"/>
            <a:ext cx="682359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Data Integration Pipeline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9602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Preprocessing Steps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148132"/>
            <a:ext cx="8284131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Normalization, log transformation, and batch effect correction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Differential expression analysis for genes and proteins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Mapping proteins to genes via UniProt and Ensembl databases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Statistical matrix combination with dimensionality reduction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064443"/>
            <a:ext cx="4234577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Dimensionality Reduction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793790" y="5716548"/>
            <a:ext cx="828413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Principal Component Analysis (PCA) and Autoencoders compress high-dimensional data while preserving biological signal, enabling efficient downstream analysis.</a:t>
            </a:r>
            <a:endParaRPr lang="en-US" sz="17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8943" y="2613303"/>
            <a:ext cx="4205168" cy="3484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38943" y="6353294"/>
            <a:ext cx="420516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0E2A25-0BA1-4A82-3001-9E2996779179}"/>
              </a:ext>
            </a:extLst>
          </p:cNvPr>
          <p:cNvSpPr txBox="1"/>
          <p:nvPr/>
        </p:nvSpPr>
        <p:spPr>
          <a:xfrm>
            <a:off x="12573001" y="7531767"/>
            <a:ext cx="1937084" cy="613611"/>
          </a:xfrm>
          <a:prstGeom prst="rect">
            <a:avLst/>
          </a:prstGeom>
          <a:solidFill>
            <a:srgbClr val="080E2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59293" y="661392"/>
            <a:ext cx="5428536" cy="485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Graph Construction Strategy </a:t>
            </a:r>
            <a:endParaRPr lang="en-US" sz="3050" dirty="0"/>
          </a:p>
        </p:txBody>
      </p:sp>
      <p:sp>
        <p:nvSpPr>
          <p:cNvPr id="3" name="Shape 1"/>
          <p:cNvSpPr/>
          <p:nvPr/>
        </p:nvSpPr>
        <p:spPr>
          <a:xfrm>
            <a:off x="7303651" y="1358979"/>
            <a:ext cx="22860" cy="6209109"/>
          </a:xfrm>
          <a:prstGeom prst="roundRect">
            <a:avLst>
              <a:gd name="adj" fmla="val 285224"/>
            </a:avLst>
          </a:prstGeom>
          <a:solidFill>
            <a:srgbClr val="414A7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697682" y="1522095"/>
            <a:ext cx="465653" cy="22860"/>
          </a:xfrm>
          <a:prstGeom prst="roundRect">
            <a:avLst>
              <a:gd name="adj" fmla="val 285224"/>
            </a:avLst>
          </a:prstGeom>
          <a:solidFill>
            <a:srgbClr val="414A7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140476" y="1358979"/>
            <a:ext cx="349210" cy="349210"/>
          </a:xfrm>
          <a:prstGeom prst="roundRect">
            <a:avLst>
              <a:gd name="adj" fmla="val 18671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8638" y="1417082"/>
            <a:ext cx="232767" cy="2327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98432" y="1412319"/>
            <a:ext cx="1940481" cy="242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9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Node Definition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959293" y="1718548"/>
            <a:ext cx="4579620" cy="418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Genes and proteins represented as graph vertices with expression attributes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466826" y="2355413"/>
            <a:ext cx="465653" cy="22860"/>
          </a:xfrm>
          <a:prstGeom prst="roundRect">
            <a:avLst>
              <a:gd name="adj" fmla="val 285224"/>
            </a:avLst>
          </a:prstGeom>
          <a:solidFill>
            <a:srgbClr val="414A7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7140476" y="2192298"/>
            <a:ext cx="349210" cy="349210"/>
          </a:xfrm>
          <a:prstGeom prst="roundRect">
            <a:avLst>
              <a:gd name="adj" fmla="val 18671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98638" y="2250400"/>
            <a:ext cx="232767" cy="23276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091249" y="2245638"/>
            <a:ext cx="1940481" cy="242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Edge Formation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8091249" y="2551867"/>
            <a:ext cx="4579739" cy="418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Co-expression correlations and curated protein-protein interactions establish connections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697682" y="3109198"/>
            <a:ext cx="465653" cy="22860"/>
          </a:xfrm>
          <a:prstGeom prst="roundRect">
            <a:avLst>
              <a:gd name="adj" fmla="val 285224"/>
            </a:avLst>
          </a:prstGeom>
          <a:solidFill>
            <a:srgbClr val="414A7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7140476" y="2946083"/>
            <a:ext cx="349210" cy="349210"/>
          </a:xfrm>
          <a:prstGeom prst="roundRect">
            <a:avLst>
              <a:gd name="adj" fmla="val 18671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98638" y="3004185"/>
            <a:ext cx="232767" cy="23276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504373" y="2999423"/>
            <a:ext cx="2034540" cy="242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9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Multi-Layer Networks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959293" y="3305651"/>
            <a:ext cx="4579620" cy="418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Heterogeneous graph structure captures transcript-protein relationships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7466826" y="3863102"/>
            <a:ext cx="465653" cy="22860"/>
          </a:xfrm>
          <a:prstGeom prst="roundRect">
            <a:avLst>
              <a:gd name="adj" fmla="val 285224"/>
            </a:avLst>
          </a:prstGeom>
          <a:solidFill>
            <a:srgbClr val="414A7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7140476" y="3699986"/>
            <a:ext cx="349210" cy="349210"/>
          </a:xfrm>
          <a:prstGeom prst="roundRect">
            <a:avLst>
              <a:gd name="adj" fmla="val 18671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98638" y="3758089"/>
            <a:ext cx="232767" cy="23276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91249" y="3753326"/>
            <a:ext cx="1940481" cy="242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Annotation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091249" y="4059555"/>
            <a:ext cx="4579739" cy="418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Database-driven functional metadata enrichs node and edge properties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697682" y="4617006"/>
            <a:ext cx="465653" cy="22860"/>
          </a:xfrm>
          <a:prstGeom prst="roundRect">
            <a:avLst>
              <a:gd name="adj" fmla="val 285224"/>
            </a:avLst>
          </a:prstGeom>
          <a:solidFill>
            <a:srgbClr val="414A7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7140476" y="4453890"/>
            <a:ext cx="349210" cy="349210"/>
          </a:xfrm>
          <a:prstGeom prst="roundRect">
            <a:avLst>
              <a:gd name="adj" fmla="val 18671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0"/>
          <p:cNvSpPr/>
          <p:nvPr/>
        </p:nvSpPr>
        <p:spPr>
          <a:xfrm>
            <a:off x="7198638" y="4482941"/>
            <a:ext cx="232767" cy="290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5</a:t>
            </a:r>
            <a:endParaRPr lang="en-US" sz="180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02113" y="4155818"/>
            <a:ext cx="4455994" cy="3873697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98432" y="7052667"/>
            <a:ext cx="1940481" cy="242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900"/>
              </a:lnSpc>
              <a:buNone/>
            </a:pP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1959293" y="7358896"/>
            <a:ext cx="4579620" cy="209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600"/>
              </a:lnSpc>
              <a:buNone/>
            </a:pPr>
            <a:endParaRPr lang="en-US" sz="1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4B6E627-8428-E865-D3CB-528C9C47155B}"/>
              </a:ext>
            </a:extLst>
          </p:cNvPr>
          <p:cNvSpPr txBox="1"/>
          <p:nvPr/>
        </p:nvSpPr>
        <p:spPr>
          <a:xfrm>
            <a:off x="12573001" y="7531767"/>
            <a:ext cx="1937084" cy="613611"/>
          </a:xfrm>
          <a:prstGeom prst="rect">
            <a:avLst/>
          </a:prstGeom>
          <a:solidFill>
            <a:srgbClr val="080E2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45281" y="892850"/>
            <a:ext cx="7224951" cy="459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8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Network Analytics and Machine Learning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2245281" y="1589961"/>
            <a:ext cx="2204323" cy="275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Topological Analysis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245281" y="1972389"/>
            <a:ext cx="146923" cy="183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01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245281" y="2206704"/>
            <a:ext cx="4890730" cy="15240"/>
          </a:xfrm>
          <a:prstGeom prst="rect">
            <a:avLst/>
          </a:prstGeom>
          <a:solidFill>
            <a:srgbClr val="8C98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245281" y="2310646"/>
            <a:ext cx="1836896" cy="229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Degree Centrality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5281" y="2635329"/>
            <a:ext cx="4890730" cy="193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Identify highly connected hub nodes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245281" y="3034189"/>
            <a:ext cx="146923" cy="183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02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245281" y="3268504"/>
            <a:ext cx="4890730" cy="15240"/>
          </a:xfrm>
          <a:prstGeom prst="rect">
            <a:avLst/>
          </a:prstGeom>
          <a:solidFill>
            <a:srgbClr val="8C98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245281" y="3372445"/>
            <a:ext cx="2062877" cy="229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Betweenness Centrality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245281" y="3697129"/>
            <a:ext cx="4890730" cy="193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Find bottleneck proteins in pathways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245281" y="4095988"/>
            <a:ext cx="146923" cy="183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03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245281" y="4330303"/>
            <a:ext cx="4890730" cy="15240"/>
          </a:xfrm>
          <a:prstGeom prst="rect">
            <a:avLst/>
          </a:prstGeom>
          <a:solidFill>
            <a:srgbClr val="8C98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245281" y="4434245"/>
            <a:ext cx="1836896" cy="229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PageRank Algorithm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245281" y="4758928"/>
            <a:ext cx="4890730" cy="193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Detect influential regulatory genes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245281" y="5157788"/>
            <a:ext cx="146923" cy="183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04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245281" y="5392103"/>
            <a:ext cx="4890730" cy="15240"/>
          </a:xfrm>
          <a:prstGeom prst="rect">
            <a:avLst/>
          </a:prstGeom>
          <a:solidFill>
            <a:srgbClr val="8C98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245281" y="5496044"/>
            <a:ext cx="1935718" cy="229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Community Detection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245281" y="5820728"/>
            <a:ext cx="4890730" cy="193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Cluster disease modules and pathways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502009" y="1589961"/>
            <a:ext cx="2497931" cy="275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Graph Neural Networks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502009" y="1960483"/>
            <a:ext cx="4890730" cy="387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Outcome:</a:t>
            </a:r>
            <a:r>
              <a:rPr lang="en-US" sz="11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Key disease-associated genes and proteins identified through supervised learning on labeled pathway data.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245281" y="6338530"/>
            <a:ext cx="5022294" cy="998101"/>
          </a:xfrm>
          <a:prstGeom prst="roundRect">
            <a:avLst>
              <a:gd name="adj" fmla="val 6184"/>
            </a:avLst>
          </a:prstGeom>
          <a:solidFill>
            <a:srgbClr val="080E26"/>
          </a:solidFill>
          <a:ln w="15240">
            <a:solidFill>
              <a:srgbClr val="414A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407444" y="6500693"/>
            <a:ext cx="1836896" cy="229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GCN Architecture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407444" y="6787277"/>
            <a:ext cx="4697968" cy="387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Graph Convolutional Networks aggregate neighborhood information for node classification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362706" y="6338530"/>
            <a:ext cx="5022413" cy="998101"/>
          </a:xfrm>
          <a:prstGeom prst="roundRect">
            <a:avLst>
              <a:gd name="adj" fmla="val 6184"/>
            </a:avLst>
          </a:prstGeom>
          <a:solidFill>
            <a:srgbClr val="080E26"/>
          </a:solidFill>
          <a:ln w="15240">
            <a:solidFill>
              <a:srgbClr val="414A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524869" y="6500693"/>
            <a:ext cx="1851660" cy="229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GAT Implementation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524869" y="6787277"/>
            <a:ext cx="4698087" cy="387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Graph Attention Networks learn edge importance for link prediction</a:t>
            </a:r>
            <a:endParaRPr lang="en-US" sz="115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F5A6FA3-0EA3-A3A0-C4FD-1C3248CC6A0E}"/>
              </a:ext>
            </a:extLst>
          </p:cNvPr>
          <p:cNvSpPr txBox="1"/>
          <p:nvPr/>
        </p:nvSpPr>
        <p:spPr>
          <a:xfrm>
            <a:off x="12573001" y="7531767"/>
            <a:ext cx="1937084" cy="613611"/>
          </a:xfrm>
          <a:prstGeom prst="rect">
            <a:avLst/>
          </a:prstGeom>
          <a:solidFill>
            <a:srgbClr val="080E2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09228" y="844510"/>
            <a:ext cx="7698343" cy="129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Explainable AI for Biological Interpretation</a:t>
            </a:r>
            <a:endParaRPr lang="en-US" sz="4050" dirty="0"/>
          </a:p>
        </p:txBody>
      </p:sp>
      <p:sp>
        <p:nvSpPr>
          <p:cNvPr id="4" name="Shape 1"/>
          <p:cNvSpPr/>
          <p:nvPr/>
        </p:nvSpPr>
        <p:spPr>
          <a:xfrm>
            <a:off x="6209228" y="2417445"/>
            <a:ext cx="3755112" cy="2441853"/>
          </a:xfrm>
          <a:prstGeom prst="roundRect">
            <a:avLst>
              <a:gd name="adj" fmla="val 3553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6423303" y="2631519"/>
            <a:ext cx="2581870" cy="322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SHAP Values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423303" y="3067050"/>
            <a:ext cx="3326963" cy="1578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SHapley Additive exPlanations quantify feature importance for model predictions, assigning attribution scores to genes and proteins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0152340" y="2417445"/>
            <a:ext cx="3755231" cy="2441853"/>
          </a:xfrm>
          <a:prstGeom prst="roundRect">
            <a:avLst>
              <a:gd name="adj" fmla="val 3553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10366415" y="2631519"/>
            <a:ext cx="2581870" cy="322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GNNExplainer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0366415" y="3067050"/>
            <a:ext cx="3327083" cy="1262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Subgraph visualization reveals critical pathways and interaction patterns driving neural network decisions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209228" y="5047298"/>
            <a:ext cx="7698343" cy="1494949"/>
          </a:xfrm>
          <a:prstGeom prst="roundRect">
            <a:avLst>
              <a:gd name="adj" fmla="val 5803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423303" y="5261372"/>
            <a:ext cx="2581870" cy="322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Biological Validation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423303" y="5696903"/>
            <a:ext cx="7270194" cy="631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Pathway enrichment analysis using KEGG and Gene Ontology databases confirms functional significance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209228" y="6753820"/>
            <a:ext cx="7698343" cy="631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Explainable techniques transform black-box predictions into testable biological hypotheses, enabling experimental validation.</a:t>
            </a:r>
            <a:endParaRPr lang="en-US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16D49C-883C-9046-8CE8-5CB481F89585}"/>
              </a:ext>
            </a:extLst>
          </p:cNvPr>
          <p:cNvSpPr txBox="1"/>
          <p:nvPr/>
        </p:nvSpPr>
        <p:spPr>
          <a:xfrm>
            <a:off x="12573001" y="7543799"/>
            <a:ext cx="1937084" cy="613611"/>
          </a:xfrm>
          <a:prstGeom prst="rect">
            <a:avLst/>
          </a:prstGeom>
          <a:solidFill>
            <a:srgbClr val="080E2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0925" y="697349"/>
            <a:ext cx="7868722" cy="652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Expected Outcomes and Impact</a:t>
            </a:r>
            <a:endParaRPr lang="en-US" sz="4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925" y="1734503"/>
            <a:ext cx="2452926" cy="24529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0925" y="4427696"/>
            <a:ext cx="2610445" cy="326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Disease Modules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730925" y="4869418"/>
            <a:ext cx="4229338" cy="641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Identify co-regulated gene-protein clusters driving SCD progression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0531" y="1734503"/>
            <a:ext cx="2452926" cy="245292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00531" y="4427696"/>
            <a:ext cx="2610445" cy="326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Therapeutic Targets</a:t>
            </a:r>
            <a:endParaRPr lang="en-US" sz="2050" dirty="0"/>
          </a:p>
        </p:txBody>
      </p:sp>
      <p:sp>
        <p:nvSpPr>
          <p:cNvPr id="8" name="Text 4"/>
          <p:cNvSpPr/>
          <p:nvPr/>
        </p:nvSpPr>
        <p:spPr>
          <a:xfrm>
            <a:off x="5200531" y="4869418"/>
            <a:ext cx="4229338" cy="641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Prioritize hub genes for drug development and gene therapy</a:t>
            </a:r>
            <a:endParaRPr lang="en-US" sz="1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0137" y="1734503"/>
            <a:ext cx="2452926" cy="245292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0137" y="4427696"/>
            <a:ext cx="2610445" cy="326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Clinical Biomarkers</a:t>
            </a:r>
            <a:endParaRPr lang="en-US" sz="2050" dirty="0"/>
          </a:p>
        </p:txBody>
      </p:sp>
      <p:sp>
        <p:nvSpPr>
          <p:cNvPr id="11" name="Text 6"/>
          <p:cNvSpPr/>
          <p:nvPr/>
        </p:nvSpPr>
        <p:spPr>
          <a:xfrm>
            <a:off x="9670137" y="4869418"/>
            <a:ext cx="4229338" cy="641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Validate multi-omics signatures for disease severity prediction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730925" y="5831800"/>
            <a:ext cx="4229338" cy="689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54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8</a:t>
            </a:r>
            <a:endParaRPr lang="en-US" sz="5400" dirty="0"/>
          </a:p>
        </p:txBody>
      </p:sp>
      <p:sp>
        <p:nvSpPr>
          <p:cNvPr id="13" name="Text 8"/>
          <p:cNvSpPr/>
          <p:nvPr/>
        </p:nvSpPr>
        <p:spPr>
          <a:xfrm>
            <a:off x="1540312" y="6769537"/>
            <a:ext cx="2610445" cy="326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Integration Steps</a:t>
            </a:r>
            <a:endParaRPr lang="en-US" sz="2050" dirty="0"/>
          </a:p>
        </p:txBody>
      </p:sp>
      <p:sp>
        <p:nvSpPr>
          <p:cNvPr id="14" name="Text 9"/>
          <p:cNvSpPr/>
          <p:nvPr/>
        </p:nvSpPr>
        <p:spPr>
          <a:xfrm>
            <a:off x="730925" y="7211258"/>
            <a:ext cx="4229338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6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From raw data to clinical models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5200531" y="5831800"/>
            <a:ext cx="4229338" cy="689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54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2</a:t>
            </a:r>
            <a:endParaRPr lang="en-US" sz="5400" dirty="0"/>
          </a:p>
        </p:txBody>
      </p:sp>
      <p:sp>
        <p:nvSpPr>
          <p:cNvPr id="16" name="Text 11"/>
          <p:cNvSpPr/>
          <p:nvPr/>
        </p:nvSpPr>
        <p:spPr>
          <a:xfrm>
            <a:off x="6009918" y="6769537"/>
            <a:ext cx="2610445" cy="326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Omics Layers</a:t>
            </a:r>
            <a:endParaRPr lang="en-US" sz="2050" dirty="0"/>
          </a:p>
        </p:txBody>
      </p:sp>
      <p:sp>
        <p:nvSpPr>
          <p:cNvPr id="17" name="Text 12"/>
          <p:cNvSpPr/>
          <p:nvPr/>
        </p:nvSpPr>
        <p:spPr>
          <a:xfrm>
            <a:off x="5200531" y="7211258"/>
            <a:ext cx="4229338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6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Transcriptomics and proteomics unified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9670137" y="5831800"/>
            <a:ext cx="4229338" cy="689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54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3+</a:t>
            </a:r>
            <a:endParaRPr lang="en-US" sz="5400" dirty="0"/>
          </a:p>
        </p:txBody>
      </p:sp>
      <p:sp>
        <p:nvSpPr>
          <p:cNvPr id="19" name="Text 14"/>
          <p:cNvSpPr/>
          <p:nvPr/>
        </p:nvSpPr>
        <p:spPr>
          <a:xfrm>
            <a:off x="10479524" y="6769537"/>
            <a:ext cx="2610445" cy="326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AI Techniques</a:t>
            </a:r>
            <a:endParaRPr lang="en-US" sz="2050" dirty="0"/>
          </a:p>
        </p:txBody>
      </p:sp>
      <p:sp>
        <p:nvSpPr>
          <p:cNvPr id="20" name="Text 15"/>
          <p:cNvSpPr/>
          <p:nvPr/>
        </p:nvSpPr>
        <p:spPr>
          <a:xfrm>
            <a:off x="9670137" y="7211258"/>
            <a:ext cx="4229338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6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GNNs, SHAP, and interpretable ML</a:t>
            </a:r>
            <a:endParaRPr lang="en-US" sz="1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F4BA70A-8B19-13F5-9714-FA26E73719F5}"/>
              </a:ext>
            </a:extLst>
          </p:cNvPr>
          <p:cNvSpPr txBox="1"/>
          <p:nvPr/>
        </p:nvSpPr>
        <p:spPr>
          <a:xfrm>
            <a:off x="12573001" y="7543799"/>
            <a:ext cx="1937084" cy="613611"/>
          </a:xfrm>
          <a:prstGeom prst="rect">
            <a:avLst/>
          </a:prstGeom>
          <a:solidFill>
            <a:srgbClr val="080E2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73649" y="603766"/>
            <a:ext cx="7135178" cy="519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Contributions to Precision Medicine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1573649" y="2524244"/>
            <a:ext cx="2969300" cy="31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Systems Biology Insights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573649" y="2958346"/>
            <a:ext cx="3755112" cy="1384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This framework provides unprecedented systems-level understanding of SCD molecular mechanisms, revealing how transcriptomic dysregulation cascades to proteomic dysfunction through network topology.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573649" y="4464844"/>
            <a:ext cx="2689384" cy="31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Translational Pathway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573649" y="4898946"/>
            <a:ext cx="3755112" cy="1153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Identified biomarkers undergo validation using literature mining and external datasets, bridging computational predictions to experimental verification and eventual clinical implementation.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384" y="1444109"/>
            <a:ext cx="7321868" cy="408658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42384" y="5667970"/>
            <a:ext cx="3599855" cy="1452563"/>
          </a:xfrm>
          <a:prstGeom prst="roundRect">
            <a:avLst>
              <a:gd name="adj" fmla="val 7554"/>
            </a:avLst>
          </a:prstGeom>
          <a:solidFill>
            <a:srgbClr val="080E26"/>
          </a:solidFill>
          <a:ln w="22860">
            <a:solidFill>
              <a:srgbClr val="414A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5719524" y="5667970"/>
            <a:ext cx="91440" cy="1452563"/>
          </a:xfrm>
          <a:prstGeom prst="roundRect">
            <a:avLst>
              <a:gd name="adj" fmla="val 76441"/>
            </a:avLst>
          </a:prstGeom>
          <a:solidFill>
            <a:srgbClr val="8C98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6000155" y="5857161"/>
            <a:ext cx="2625209" cy="25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Computational Innovation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000155" y="6239113"/>
            <a:ext cx="3152894" cy="461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First application of explainable GNNs to SCD multi-omics data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464278" y="5667970"/>
            <a:ext cx="3599974" cy="1452563"/>
          </a:xfrm>
          <a:prstGeom prst="roundRect">
            <a:avLst>
              <a:gd name="adj" fmla="val 7554"/>
            </a:avLst>
          </a:prstGeom>
          <a:solidFill>
            <a:srgbClr val="080E26"/>
          </a:solidFill>
          <a:ln w="22860">
            <a:solidFill>
              <a:srgbClr val="414A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9441418" y="5667970"/>
            <a:ext cx="91440" cy="1452563"/>
          </a:xfrm>
          <a:prstGeom prst="roundRect">
            <a:avLst>
              <a:gd name="adj" fmla="val 76441"/>
            </a:avLst>
          </a:prstGeom>
          <a:solidFill>
            <a:srgbClr val="8C98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9722048" y="5857161"/>
            <a:ext cx="2080260" cy="25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Clinical Relevance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722048" y="6239113"/>
            <a:ext cx="3153013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Machine learning models predict disease severity using accuracy, ROC-AUC, and precision-recall metrics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573649" y="7395091"/>
            <a:ext cx="11483102" cy="230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Next Steps:</a:t>
            </a: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Collaborate with wet-lab researchers to validate predicted biomarkers through functional assays and patient cohort studies.</a:t>
            </a:r>
            <a:endParaRPr lang="en-US" sz="13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C03327-5027-97B3-8DF1-807A02355CDB}"/>
              </a:ext>
            </a:extLst>
          </p:cNvPr>
          <p:cNvSpPr txBox="1"/>
          <p:nvPr/>
        </p:nvSpPr>
        <p:spPr>
          <a:xfrm>
            <a:off x="12573001" y="7531767"/>
            <a:ext cx="1937084" cy="613611"/>
          </a:xfrm>
          <a:prstGeom prst="rect">
            <a:avLst/>
          </a:prstGeom>
          <a:solidFill>
            <a:srgbClr val="080E2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618</Words>
  <Application>Microsoft Office PowerPoint</Application>
  <PresentationFormat>Custom</PresentationFormat>
  <Paragraphs>108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Fraunces Medium</vt:lpstr>
      <vt:lpstr>Fraunces Light</vt:lpstr>
      <vt:lpstr>Epilogue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Sree Darshne Jayakumar</cp:lastModifiedBy>
  <cp:revision>3</cp:revision>
  <dcterms:created xsi:type="dcterms:W3CDTF">2026-02-24T15:09:09Z</dcterms:created>
  <dcterms:modified xsi:type="dcterms:W3CDTF">2026-02-24T15:26:35Z</dcterms:modified>
</cp:coreProperties>
</file>